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99" r:id="rId6"/>
    <p:sldId id="297" r:id="rId7"/>
    <p:sldId id="301" r:id="rId8"/>
    <p:sldId id="302" r:id="rId9"/>
    <p:sldId id="303" r:id="rId10"/>
    <p:sldId id="305" r:id="rId11"/>
    <p:sldId id="306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839" autoAdjust="0"/>
  </p:normalViewPr>
  <p:slideViewPr>
    <p:cSldViewPr snapToGrid="0" showGuides="1">
      <p:cViewPr>
        <p:scale>
          <a:sx n="76" d="100"/>
          <a:sy n="76" d="100"/>
        </p:scale>
        <p:origin x="104" y="6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23960-5D6A-B29A-6D66-D7F6B96A0F8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DB504-032B-6830-F47C-456B3858031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538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oracle-my.sharepoint.com/personal/chathurya_v_oracle_com/Documents/CHATBOT_DISTILBERT%20%E2%80%93%20Complete%20Project%20Documentation.docx?web=1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>
            <a:normAutofit/>
          </a:bodyPr>
          <a:lstStyle/>
          <a:p>
            <a:r>
              <a:rPr lang="en-US" sz="3700" dirty="0"/>
              <a:t>AI-Driven Document Intelligence with Semantic Retrieval and Controlled LLM Integration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1725" cy="1314450"/>
          </a:xfrm>
        </p:spPr>
        <p:txBody>
          <a:bodyPr>
            <a:normAutofit/>
          </a:bodyPr>
          <a:lstStyle/>
          <a:p>
            <a:r>
              <a:rPr lang="en-US" dirty="0"/>
              <a:t>Chathurya V</a:t>
            </a:r>
          </a:p>
          <a:p>
            <a:r>
              <a:rPr lang="en-US" dirty="0" err="1"/>
              <a:t>Sathwik</a:t>
            </a:r>
            <a:r>
              <a:rPr lang="en-US" dirty="0"/>
              <a:t> </a:t>
            </a:r>
            <a:r>
              <a:rPr lang="en-US" dirty="0" err="1"/>
              <a:t>Vintha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867305" y="3012849"/>
            <a:ext cx="6152289" cy="3679053"/>
          </a:xfrm>
        </p:spPr>
        <p:txBody>
          <a:bodyPr anchor="t" anchorCtr="0">
            <a:normAutofit/>
          </a:bodyPr>
          <a:lstStyle/>
          <a:p>
            <a:r>
              <a:rPr lang="en-US" sz="2400" dirty="0"/>
              <a:t>Problem Statement</a:t>
            </a:r>
          </a:p>
          <a:p>
            <a:r>
              <a:rPr lang="en-US" sz="2400" dirty="0"/>
              <a:t>Tech Stack</a:t>
            </a:r>
          </a:p>
          <a:p>
            <a:r>
              <a:rPr lang="en-US" sz="2400" dirty="0"/>
              <a:t>Proposed Solution </a:t>
            </a:r>
          </a:p>
          <a:p>
            <a:r>
              <a:rPr lang="en-US" sz="2400" dirty="0"/>
              <a:t>Advantages and Disadvantages</a:t>
            </a:r>
          </a:p>
          <a:p>
            <a:r>
              <a:rPr lang="en-US" sz="2400" dirty="0"/>
              <a:t>Improvement Measure</a:t>
            </a:r>
          </a:p>
          <a:p>
            <a:r>
              <a:rPr lang="en-US" sz="2400" dirty="0"/>
              <a:t>Maintenance and Packaging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710" y="1003783"/>
            <a:ext cx="7955280" cy="701040"/>
          </a:xfrm>
        </p:spPr>
        <p:txBody>
          <a:bodyPr lIns="0" anchor="b" anchorCtr="0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28925B-0829-94EC-95AC-6A1AEC2447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80488" y="2317198"/>
            <a:ext cx="8356310" cy="491381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fresher/ new lateral Hire, we found it difficult to understand and navigate large technical documents without external help.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Manually searching through PDFs and configuration guides was time-consuming and inefficient.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data security reasons, using online generic AI chatbots by uploading our project documents may not be a safe option.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Hence, there is a need for a reliable, document-grounded question-answering system that provides accurate and real-time responses directly from source documents.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36F2B0D-5215-E1C1-DB02-C081FD43090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921" y="186417"/>
            <a:ext cx="7955280" cy="777240"/>
          </a:xfrm>
        </p:spPr>
        <p:txBody>
          <a:bodyPr anchor="b" anchorCtr="0">
            <a:normAutofit/>
          </a:bodyPr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808400" y="1107347"/>
            <a:ext cx="4456465" cy="55642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🔹 Frontend Chatbot</a:t>
            </a:r>
          </a:p>
          <a:p>
            <a:pPr marL="0" indent="0">
              <a:buNone/>
            </a:pPr>
            <a:r>
              <a:rPr lang="en-IN" sz="1600" b="1" dirty="0"/>
              <a:t>	Angular</a:t>
            </a:r>
            <a:r>
              <a:rPr lang="en-IN" sz="1600" dirty="0"/>
              <a:t> – User Interface</a:t>
            </a:r>
          </a:p>
          <a:p>
            <a:pPr marL="0" indent="0">
              <a:buNone/>
            </a:pPr>
            <a:r>
              <a:rPr lang="en-IN" sz="1600" b="1" dirty="0"/>
              <a:t>	TypeScript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	HTML / CSS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🔹 Tools &amp; Environment</a:t>
            </a:r>
          </a:p>
          <a:p>
            <a:pPr marL="0" indent="0">
              <a:buNone/>
            </a:pPr>
            <a:r>
              <a:rPr lang="en-IN" sz="1600" b="1" dirty="0"/>
              <a:t>	Node.js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	Git &amp; GitHub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	Python Virtual Environment (.</a:t>
            </a:r>
            <a:r>
              <a:rPr lang="en-IN" sz="1600" b="1" dirty="0" err="1"/>
              <a:t>venv</a:t>
            </a:r>
            <a:r>
              <a:rPr lang="en-IN" sz="1600" b="1" dirty="0"/>
              <a:t>)</a:t>
            </a:r>
          </a:p>
          <a:p>
            <a:pPr marL="0" indent="0">
              <a:buNone/>
            </a:pPr>
            <a:r>
              <a:rPr lang="en-IN" sz="1600" b="1" dirty="0"/>
              <a:t>🔹 Backend</a:t>
            </a:r>
          </a:p>
          <a:p>
            <a:pPr marL="0" indent="0">
              <a:buNone/>
            </a:pPr>
            <a:r>
              <a:rPr lang="en-IN" sz="1600" b="1" dirty="0"/>
              <a:t>	Python</a:t>
            </a: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	</a:t>
            </a:r>
            <a:r>
              <a:rPr lang="en-IN" sz="1600" b="1" dirty="0" err="1"/>
              <a:t>FastAPI</a:t>
            </a:r>
            <a:r>
              <a:rPr lang="en-IN" sz="1600" dirty="0"/>
              <a:t> – REST API framework (Web)</a:t>
            </a:r>
          </a:p>
          <a:p>
            <a:pPr marL="0" indent="0">
              <a:buNone/>
            </a:pPr>
            <a:r>
              <a:rPr lang="en-IN" sz="1600" b="1" dirty="0"/>
              <a:t>	</a:t>
            </a:r>
            <a:r>
              <a:rPr lang="en-IN" sz="1600" b="1" dirty="0" err="1"/>
              <a:t>Uvicorn</a:t>
            </a:r>
            <a:r>
              <a:rPr lang="en-IN" sz="1600" dirty="0"/>
              <a:t> – ASGI server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1BBD5C-43B1-7869-49A7-7C9F27E45091}"/>
              </a:ext>
            </a:extLst>
          </p:cNvPr>
          <p:cNvSpPr txBox="1">
            <a:spLocks/>
          </p:cNvSpPr>
          <p:nvPr/>
        </p:nvSpPr>
        <p:spPr>
          <a:xfrm>
            <a:off x="6997089" y="1107347"/>
            <a:ext cx="5015945" cy="5564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2064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09728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64592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19456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/>
              <a:t>🔹 Machine Learning </a:t>
            </a:r>
          </a:p>
          <a:p>
            <a:pPr marL="0" indent="0">
              <a:buNone/>
            </a:pPr>
            <a:r>
              <a:rPr lang="en-IN" sz="1600" b="1" dirty="0"/>
              <a:t>	</a:t>
            </a:r>
            <a:r>
              <a:rPr lang="en-IN" sz="1600" b="1" dirty="0" err="1"/>
              <a:t>DistilBERT</a:t>
            </a:r>
            <a:r>
              <a:rPr lang="en-IN" sz="1600" b="1" dirty="0"/>
              <a:t> (Fine-tuned)</a:t>
            </a:r>
            <a:r>
              <a:rPr lang="en-IN" sz="1600" dirty="0"/>
              <a:t> – Extractive 	Question Answering</a:t>
            </a:r>
          </a:p>
          <a:p>
            <a:pPr marL="585216" lvl="1" indent="0">
              <a:buNone/>
            </a:pPr>
            <a:r>
              <a:rPr lang="en-IN" sz="1600" b="1" dirty="0"/>
              <a:t>	</a:t>
            </a:r>
            <a:r>
              <a:rPr lang="en-IN" sz="1600" b="1" dirty="0" err="1"/>
              <a:t>SentenceTransformers</a:t>
            </a:r>
            <a:r>
              <a:rPr lang="en-IN" sz="1600" b="1" dirty="0"/>
              <a:t> (all-MiniLM-L6-v2)</a:t>
            </a:r>
            <a:r>
              <a:rPr lang="en-IN" sz="1600" dirty="0"/>
              <a:t> 	– Text Embeddings</a:t>
            </a:r>
          </a:p>
          <a:p>
            <a:pPr marL="0" indent="0">
              <a:buNone/>
            </a:pPr>
            <a:r>
              <a:rPr lang="en-IN" sz="1600" b="1" dirty="0"/>
              <a:t>	FAISS</a:t>
            </a:r>
            <a:r>
              <a:rPr lang="en-IN" sz="1600" dirty="0"/>
              <a:t> – Vector similarity search</a:t>
            </a:r>
          </a:p>
          <a:p>
            <a:pPr marL="0" indent="0">
              <a:buNone/>
            </a:pPr>
            <a:r>
              <a:rPr lang="en-IN" sz="1600" b="1" dirty="0"/>
              <a:t>	</a:t>
            </a:r>
            <a:r>
              <a:rPr lang="en-IN" sz="1600" b="1" dirty="0" err="1"/>
              <a:t>Qwen</a:t>
            </a:r>
            <a:r>
              <a:rPr lang="en-IN" sz="1600" b="1" dirty="0"/>
              <a:t> 2.5 (via </a:t>
            </a:r>
            <a:r>
              <a:rPr lang="en-IN" sz="1600" b="1" dirty="0" err="1"/>
              <a:t>OpenRouter</a:t>
            </a:r>
            <a:r>
              <a:rPr lang="en-IN" sz="1600" b="1" dirty="0"/>
              <a:t> API)</a:t>
            </a:r>
            <a:r>
              <a:rPr lang="en-IN" sz="1600" dirty="0"/>
              <a:t> – 	Grounded LLM explanation layer</a:t>
            </a:r>
          </a:p>
          <a:p>
            <a:pPr marL="0" indent="0">
              <a:buNone/>
            </a:pPr>
            <a:r>
              <a:rPr lang="en-IN" sz="1600" dirty="0"/>
              <a:t>	Used in 2 places (To generate QA to train 	</a:t>
            </a:r>
            <a:r>
              <a:rPr lang="en-IN" sz="1600" dirty="0" err="1"/>
              <a:t>DistilBERT</a:t>
            </a:r>
            <a:r>
              <a:rPr lang="en-IN" sz="1600" dirty="0"/>
              <a:t>, Used as last layer to generate 	answer)</a:t>
            </a:r>
          </a:p>
          <a:p>
            <a:pPr marL="0" indent="0">
              <a:buNone/>
            </a:pPr>
            <a:r>
              <a:rPr lang="en-IN" sz="1600" b="1" dirty="0"/>
              <a:t>	</a:t>
            </a:r>
            <a:r>
              <a:rPr lang="en-IN" sz="1600" b="1" dirty="0" err="1"/>
              <a:t>PyTorch</a:t>
            </a:r>
            <a:r>
              <a:rPr lang="en-IN" sz="1600" dirty="0"/>
              <a:t> – Model training &amp; inference</a:t>
            </a:r>
          </a:p>
          <a:p>
            <a:pPr marL="0" indent="0">
              <a:buFont typeface="+mj-lt"/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36711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571"/>
            <a:ext cx="4389120" cy="854838"/>
          </a:xfrm>
        </p:spPr>
        <p:txBody>
          <a:bodyPr anchor="b" anchorCtr="0">
            <a:normAutofit/>
          </a:bodyPr>
          <a:lstStyle/>
          <a:p>
            <a:r>
              <a:rPr lang="en-US" sz="3000" dirty="0"/>
              <a:t>Proposed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ED13E8-2722-BC84-F6B1-49EF8BE08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54" y="756267"/>
            <a:ext cx="4775131" cy="5572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10B62B-859F-3DAC-5015-ECC949AF1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329" y="756267"/>
            <a:ext cx="4280546" cy="554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42718"/>
            <a:ext cx="9220201" cy="552994"/>
          </a:xfrm>
        </p:spPr>
        <p:txBody>
          <a:bodyPr anchor="t" anchorCtr="0">
            <a:normAutofit fontScale="90000"/>
          </a:bodyPr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709F7D9-CCEF-1E78-85A5-484250AC0076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3567479983"/>
              </p:ext>
            </p:extLst>
          </p:nvPr>
        </p:nvGraphicFramePr>
        <p:xfrm>
          <a:off x="914399" y="2516062"/>
          <a:ext cx="9220202" cy="243344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610101">
                  <a:extLst>
                    <a:ext uri="{9D8B030D-6E8A-4147-A177-3AD203B41FA5}">
                      <a16:colId xmlns:a16="http://schemas.microsoft.com/office/drawing/2014/main" val="30571510"/>
                    </a:ext>
                  </a:extLst>
                </a:gridCol>
                <a:gridCol w="4610101">
                  <a:extLst>
                    <a:ext uri="{9D8B030D-6E8A-4147-A177-3AD203B41FA5}">
                      <a16:colId xmlns:a16="http://schemas.microsoft.com/office/drawing/2014/main" val="2830084088"/>
                    </a:ext>
                  </a:extLst>
                </a:gridCol>
              </a:tblGrid>
              <a:tr h="362995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Disadvanges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021522"/>
                  </a:ext>
                </a:extLst>
              </a:tr>
              <a:tr h="341024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 information retrieval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Initial setup complexity</a:t>
                      </a:r>
                      <a:r>
                        <a:rPr lang="en-IN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118898"/>
                  </a:ext>
                </a:extLst>
              </a:tr>
              <a:tr h="479646">
                <a:tc>
                  <a:txBody>
                    <a:bodyPr/>
                    <a:lstStyle/>
                    <a:p>
                      <a:r>
                        <a:rPr lang="en-IN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Document-grounded responses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Chunking limitations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148869"/>
                  </a:ext>
                </a:extLst>
              </a:tr>
              <a:tr h="4446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Semantic search capability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Dependency on document quality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160534"/>
                  </a:ext>
                </a:extLst>
              </a:tr>
              <a:tr h="503339">
                <a:tc>
                  <a:txBody>
                    <a:bodyPr/>
                    <a:lstStyle/>
                    <a:p>
                      <a:r>
                        <a:rPr lang="en-IN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Improved productivity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Maintenance overhead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006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552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4C0D-39BA-E15D-2770-EFB09342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69" y="134224"/>
            <a:ext cx="7830368" cy="787726"/>
          </a:xfrm>
        </p:spPr>
        <p:txBody>
          <a:bodyPr/>
          <a:lstStyle/>
          <a:p>
            <a:r>
              <a:rPr lang="en-IN" dirty="0"/>
              <a:t>Maintenance and Packaging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FDE1-2ABA-0120-3B4B-E7EE9454C7F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6873" y="1166069"/>
            <a:ext cx="8833608" cy="5416975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Adding New Documents			Maintenance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	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		</a:t>
            </a:r>
            <a:r>
              <a:rPr lang="fr-FR" sz="1400" dirty="0">
                <a:hlinkClick r:id="rId2"/>
              </a:rPr>
              <a:t>CHATBOT_DISTILBERT – Complete Project</a:t>
            </a:r>
            <a:r>
              <a:rPr lang="fr-FR" sz="1400" dirty="0">
                <a:hlinkClick r:id="rId2"/>
              </a:rPr>
              <a:t> </a:t>
            </a:r>
            <a:r>
              <a:rPr lang="fr-FR" sz="1400" dirty="0">
                <a:hlinkClick r:id="rId2"/>
              </a:rPr>
              <a:t>Documentation</a:t>
            </a:r>
            <a:endParaRPr lang="en-IN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3F0E6-2B8A-1581-D66F-55782C3E3F27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12D1F-DD9D-840C-91B8-209A2A1CE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405" y="1684265"/>
            <a:ext cx="2298000" cy="25743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439074-2697-A4F0-8DF2-A808351F046C}"/>
              </a:ext>
            </a:extLst>
          </p:cNvPr>
          <p:cNvSpPr txBox="1"/>
          <p:nvPr/>
        </p:nvSpPr>
        <p:spPr>
          <a:xfrm flipH="1">
            <a:off x="8543767" y="1619075"/>
            <a:ext cx="179147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E832C-90B9-CAA9-B6F7-8BA82B00FF9F}"/>
              </a:ext>
            </a:extLst>
          </p:cNvPr>
          <p:cNvSpPr txBox="1"/>
          <p:nvPr/>
        </p:nvSpPr>
        <p:spPr>
          <a:xfrm>
            <a:off x="8137321" y="1619074"/>
            <a:ext cx="2927757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Regular tasks:</a:t>
            </a:r>
          </a:p>
          <a:p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  Upload new documents</a:t>
            </a:r>
            <a:b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  Rebuild embeddings</a:t>
            </a:r>
            <a:b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  Monitor API performance</a:t>
            </a:r>
            <a:b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•  Update model periodically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DCB6353-DE53-0707-FF73-A4D2C4542D36}"/>
              </a:ext>
            </a:extLst>
          </p:cNvPr>
          <p:cNvSpPr txBox="1">
            <a:spLocks/>
          </p:cNvSpPr>
          <p:nvPr/>
        </p:nvSpPr>
        <p:spPr>
          <a:xfrm>
            <a:off x="3465575" y="4706224"/>
            <a:ext cx="4789191" cy="1511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2064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09728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64592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194560" indent="-512064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IN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 Packaging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4D58F2-4435-D8F9-00E1-88D776E54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026" y="5154859"/>
            <a:ext cx="2318973" cy="109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3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2A33-DA65-AD00-1719-D6187D7F8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758" y="335560"/>
            <a:ext cx="7578698" cy="770948"/>
          </a:xfrm>
        </p:spPr>
        <p:txBody>
          <a:bodyPr/>
          <a:lstStyle/>
          <a:p>
            <a:r>
              <a:rPr lang="en-IN" dirty="0"/>
              <a:t>Improvement Measure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18BCD-B11A-CF09-966A-920FC0775D0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AB9E30-CC74-BAC5-D798-9F6D95A5817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06853" y="1315710"/>
            <a:ext cx="8169954" cy="52067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Improvements After Implementing the AI Document Assistant</a:t>
            </a:r>
          </a:p>
          <a:p>
            <a:pPr marL="0" indent="0">
              <a:buNone/>
            </a:pPr>
            <a:endParaRPr lang="en-IN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effectLst/>
                <a:ea typeface="Times New Roman" panose="02020603050405020304" pitchFamily="18" charset="0"/>
              </a:rPr>
              <a:t>The AI assistant significantly reduces the time required to locate information across organizational documents.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ea typeface="Times New Roman" panose="02020603050405020304" pitchFamily="18" charset="0"/>
              </a:rPr>
              <a:t>Manual document search previously took </a:t>
            </a:r>
            <a:r>
              <a:rPr lang="en-IN" sz="1800" b="1" dirty="0">
                <a:effectLst/>
                <a:ea typeface="Times New Roman" panose="02020603050405020304" pitchFamily="18" charset="0"/>
              </a:rPr>
              <a:t>5–15 minutes</a:t>
            </a:r>
            <a:r>
              <a:rPr lang="en-IN" sz="1800" dirty="0">
                <a:effectLst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ea typeface="Times New Roman" panose="02020603050405020304" pitchFamily="18" charset="0"/>
              </a:rPr>
              <a:t>The system now returns accurate answers in </a:t>
            </a:r>
            <a:r>
              <a:rPr lang="en-IN" sz="1800" b="1" dirty="0">
                <a:effectLst/>
                <a:ea typeface="Times New Roman" panose="02020603050405020304" pitchFamily="18" charset="0"/>
              </a:rPr>
              <a:t>2–5 seconds</a:t>
            </a:r>
            <a:r>
              <a:rPr lang="en-IN" sz="1800" dirty="0">
                <a:effectLst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ea typeface="Times New Roman" panose="02020603050405020304" pitchFamily="18" charset="0"/>
              </a:rPr>
              <a:t>Semantic retrieval improves relevance and reduces user effort.</a:t>
            </a:r>
          </a:p>
          <a:p>
            <a:pPr marL="0" indent="0">
              <a:buNone/>
            </a:pPr>
            <a:r>
              <a:rPr lang="en-IN" sz="1800" dirty="0">
                <a:effectLst/>
                <a:ea typeface="Times New Roman" panose="02020603050405020304" pitchFamily="18" charset="0"/>
              </a:rPr>
              <a:t>The system uses </a:t>
            </a:r>
            <a:r>
              <a:rPr lang="en-IN" sz="1800" b="1" dirty="0">
                <a:effectLst/>
                <a:ea typeface="Times New Roman" panose="02020603050405020304" pitchFamily="18" charset="0"/>
              </a:rPr>
              <a:t>FAISS</a:t>
            </a:r>
            <a:r>
              <a:rPr lang="en-IN" sz="1800" dirty="0">
                <a:effectLst/>
                <a:ea typeface="Times New Roman" panose="02020603050405020304" pitchFamily="18" charset="0"/>
              </a:rPr>
              <a:t> for intelligent search and </a:t>
            </a:r>
            <a:r>
              <a:rPr lang="en-IN" sz="1800" b="1" dirty="0" err="1">
                <a:effectLst/>
                <a:ea typeface="Times New Roman" panose="02020603050405020304" pitchFamily="18" charset="0"/>
              </a:rPr>
              <a:t>DistilBERT</a:t>
            </a:r>
            <a:r>
              <a:rPr lang="en-IN" sz="1800" dirty="0">
                <a:effectLst/>
                <a:ea typeface="Times New Roman" panose="02020603050405020304" pitchFamily="18" charset="0"/>
              </a:rPr>
              <a:t> to extract precise answers from documents.</a:t>
            </a:r>
          </a:p>
          <a:p>
            <a:pPr marL="0" indent="0">
              <a:buNone/>
            </a:pP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F1FAB8-7F73-9509-F8C6-E4F0A6CA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224" y="1770615"/>
            <a:ext cx="5424858" cy="23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13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638</TotalTime>
  <Words>393</Words>
  <Application>Microsoft Office PowerPoint</Application>
  <PresentationFormat>Widescreen</PresentationFormat>
  <Paragraphs>87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等线</vt:lpstr>
      <vt:lpstr>Abadi</vt:lpstr>
      <vt:lpstr>Arial</vt:lpstr>
      <vt:lpstr>Calibri</vt:lpstr>
      <vt:lpstr>Posterama</vt:lpstr>
      <vt:lpstr>Posterama Text SemiBold</vt:lpstr>
      <vt:lpstr>Symbol</vt:lpstr>
      <vt:lpstr>Times New Roman</vt:lpstr>
      <vt:lpstr>Custom</vt:lpstr>
      <vt:lpstr>AI-Driven Document Intelligence with Semantic Retrieval and Controlled LLM Integration</vt:lpstr>
      <vt:lpstr>Agenda </vt:lpstr>
      <vt:lpstr>Problem Statement</vt:lpstr>
      <vt:lpstr>Tech Stack</vt:lpstr>
      <vt:lpstr>Proposed Solution</vt:lpstr>
      <vt:lpstr>Advantages and Disadvantages</vt:lpstr>
      <vt:lpstr>Maintenance and Packaging</vt:lpstr>
      <vt:lpstr>Improvement Measure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CHATBOT </dc:title>
  <dc:creator>Chathurya V</dc:creator>
  <cp:lastModifiedBy>Chathurya V</cp:lastModifiedBy>
  <cp:revision>10</cp:revision>
  <dcterms:created xsi:type="dcterms:W3CDTF">2026-02-24T06:38:54Z</dcterms:created>
  <dcterms:modified xsi:type="dcterms:W3CDTF">2026-02-25T09:13:00Z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Custom:9</vt:lpwstr>
  </property>
  <property fmtid="{D5CDD505-2E9C-101B-9397-08002B2CF9AE}" pid="5" name="ClassificationContentMarkingFooterText">
    <vt:lpwstr>Confidential - Oracle Restricted \Employees Only</vt:lpwstr>
  </property>
  <property fmtid="{D5CDD505-2E9C-101B-9397-08002B2CF9AE}" pid="6" name="ClassificationContentMarkingHeaderLocations">
    <vt:lpwstr>Custom:7</vt:lpwstr>
  </property>
  <property fmtid="{D5CDD505-2E9C-101B-9397-08002B2CF9AE}" pid="7" name="ClassificationContentMarkingHeaderText">
    <vt:lpwstr>Confidential - Oracle Restricted \Employees Only</vt:lpwstr>
  </property>
</Properties>
</file>